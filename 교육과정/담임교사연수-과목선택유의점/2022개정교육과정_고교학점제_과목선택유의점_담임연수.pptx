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2026학년도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0"/>
            <a:ext cx="10360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담임교사 연수자료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3112" y="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2026.4.21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"/>
            <a:ext cx="1072591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3A6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62956" y="100584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62956" y="1005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2026학년도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999439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 개정 교육과정 및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고교학점제 도입에 따른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 선택 유의점 안내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37276" y="4160520"/>
            <a:ext cx="914400" cy="36576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97680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담임교사 대상 연수  ·  2026년 4월 21일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0"/>
            <a:ext cx="10360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11640312" cy="617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  <a:effectLst>
            <a:outerShdw sx="100000" sy="100000" kx="0" ky="0" algn="bl" rotWithShape="0" blurRad="76200" dist="25400" dir="5400000">
              <a:srgbClr val="1A3A6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21792"/>
            <a:ext cx="54864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안내 내용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11457432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5720" cy="822960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9728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 vs 2022 개정 교육과정 — 교과 구조 및 성적 산출 방식 변화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365992" y="109728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11457432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29968"/>
            <a:ext cx="45720" cy="822960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29968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029968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고교학점제 이수 조건 — 졸업 192학점 · 교과별 필수 이수학점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65992" y="2029968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11457432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62656"/>
            <a:ext cx="45720" cy="822960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62656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962656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담임 선생님 상담 유의점 — 국·영·수 집중 방지 · 중복 이수 금지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65992" y="2962656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895344"/>
            <a:ext cx="11457432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895344"/>
            <a:ext cx="45720" cy="822960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95344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895344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 선택 일정 · 상담 참고 자료 — 5월 집중 상담 ~ 7월 수강 신청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5992" y="3895344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0"/>
            <a:ext cx="10360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 구조 변화 비교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3112" y="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02920"/>
            <a:ext cx="11640312" cy="617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21792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21792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고등학교 교과 구조 비교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932688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 개정 → 2022 개정 교육과정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15568"/>
            <a:ext cx="1145743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15568"/>
            <a:ext cx="3819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84904" y="1115568"/>
            <a:ext cx="3819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 개정 교육과정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04048" y="1115568"/>
            <a:ext cx="3819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 개정 교육과정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463040"/>
            <a:ext cx="114574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10512"/>
            <a:ext cx="11457432" cy="347472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57984"/>
            <a:ext cx="114574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05456"/>
            <a:ext cx="11457432" cy="347472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52928"/>
            <a:ext cx="114574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1463040"/>
            <a:ext cx="164546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교과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20951" y="1463040"/>
            <a:ext cx="473896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33072" y="1463040"/>
            <a:ext cx="4853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20951" y="1810512"/>
            <a:ext cx="473896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— 일반 / 진로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33072" y="1810512"/>
            <a:ext cx="4853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— 일반 / 진로 / 융합 (신설)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" y="2157984"/>
            <a:ext cx="164546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교과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20951" y="2157984"/>
            <a:ext cx="473896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교과 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33072" y="2157984"/>
            <a:ext cx="4853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공통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20951" y="2505456"/>
            <a:ext cx="473896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교과 Ⅱ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33072" y="2505456"/>
            <a:ext cx="4853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— 전공 일반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20951" y="2852928"/>
            <a:ext cx="473896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33072" y="2852928"/>
            <a:ext cx="4853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— 전공 실무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310128"/>
            <a:ext cx="11457432" cy="45720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310128"/>
            <a:ext cx="45720" cy="457200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310128"/>
            <a:ext cx="11311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변화:  보통교과에 융합 선택과목이 신설되어 교과 내·교과 간 주제 융합 학습이 가능해졌으며, 전문교과 구조가 전문 공통 / 전공 일반 / 전공 실무로 세분화되었습니다.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0"/>
            <a:ext cx="10360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성적 산출 방식 변화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3112" y="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02920"/>
            <a:ext cx="11640312" cy="617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21792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21792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 유형별 성적 처리 방식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932688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고등학교 교과목은 과목의 유형에 따라 성적을 처리하는 방식이 다릅니다.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70432"/>
            <a:ext cx="11457432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70432"/>
            <a:ext cx="229148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57246" y="1170432"/>
            <a:ext cx="263520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절대평가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92456" y="1170432"/>
            <a:ext cx="14894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상대평가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81922" y="1170432"/>
            <a:ext cx="50412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통계정보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57246" y="1481328"/>
            <a:ext cx="114574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원점수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02990" y="1481328"/>
            <a:ext cx="14894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성취도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92456" y="1481328"/>
            <a:ext cx="14894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석차등급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781922" y="1481328"/>
            <a:ext cx="1718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성취도별 분포비율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500537" y="1481328"/>
            <a:ext cx="13748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과목평균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875429" y="1481328"/>
            <a:ext cx="194776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수강자수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1792224"/>
            <a:ext cx="114574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1792224"/>
            <a:ext cx="22366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보통교과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84678" y="1792224"/>
            <a:ext cx="10908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30422" y="1792224"/>
            <a:ext cx="14346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A·B·C·D·E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19888" y="1792224"/>
            <a:ext cx="14346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5등급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09354" y="1792224"/>
            <a:ext cx="16637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27969" y="1792224"/>
            <a:ext cx="1320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902861" y="1792224"/>
            <a:ext cx="18928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103120"/>
            <a:ext cx="11457432" cy="310896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103120"/>
            <a:ext cx="22366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사회·과학 융합 선택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84678" y="2103120"/>
            <a:ext cx="10908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30422" y="2103120"/>
            <a:ext cx="14346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A·B·C·D·E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19888" y="2103120"/>
            <a:ext cx="14346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5F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09354" y="2103120"/>
            <a:ext cx="16637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527969" y="2103120"/>
            <a:ext cx="1320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902861" y="2103120"/>
            <a:ext cx="18928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414016"/>
            <a:ext cx="114574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2414016"/>
            <a:ext cx="22366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체육·예술 / 과학탐구실험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84678" y="2414016"/>
            <a:ext cx="10908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30422" y="2414016"/>
            <a:ext cx="14346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A·B·C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19888" y="2414016"/>
            <a:ext cx="14346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5F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09354" y="2414016"/>
            <a:ext cx="16637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527969" y="2414016"/>
            <a:ext cx="1320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902861" y="2414016"/>
            <a:ext cx="18928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2724912"/>
            <a:ext cx="11457432" cy="310896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2724912"/>
            <a:ext cx="22366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교양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684678" y="2724912"/>
            <a:ext cx="10908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830422" y="2724912"/>
            <a:ext cx="14346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19888" y="2724912"/>
            <a:ext cx="14346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5F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09354" y="2724912"/>
            <a:ext cx="16637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527969" y="2724912"/>
            <a:ext cx="1320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902861" y="2724912"/>
            <a:ext cx="18928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" y="3035808"/>
            <a:ext cx="114574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" y="3035808"/>
            <a:ext cx="22366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전문교과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684678" y="3035808"/>
            <a:ext cx="10908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830422" y="3035808"/>
            <a:ext cx="14346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A·B·C·D·E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319888" y="3035808"/>
            <a:ext cx="14346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5등급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09354" y="3035808"/>
            <a:ext cx="16637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527969" y="3035808"/>
            <a:ext cx="1320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902861" y="3035808"/>
            <a:ext cx="18928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3438144"/>
            <a:ext cx="11457432" cy="475488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" y="3438144"/>
            <a:ext cx="45720" cy="475488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" y="3438144"/>
            <a:ext cx="11311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사회·과학 교과군 상대평가 제외 과목 (9개):  여행지리 / 역사로 탐구하는 현대 세계 / 사회문제 탐구 / 금융과 경제생활 / 윤리문제 탐구 / 기후변화와 지속가능한 세계 / 과학의 역사와 문화 / 기후변화와 환경생태 / 융합과학 탐구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0"/>
            <a:ext cx="10360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고교학점제 이수 조건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3112" y="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02920"/>
            <a:ext cx="11640312" cy="617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21792"/>
            <a:ext cx="54864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21792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졸업 이수 조건 및 필수 이수 학점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3758184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758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192학점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이수 학점 (졸업 조건)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69664" y="1097280"/>
            <a:ext cx="3758184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143000"/>
            <a:ext cx="3758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84학점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69664" y="1581912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이수 (일반고)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973568" y="1097280"/>
            <a:ext cx="3758184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73568" y="1143000"/>
            <a:ext cx="3758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18학점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973568" y="1581912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창의적 체험활동 (288시간)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993392"/>
            <a:ext cx="11457432" cy="2834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993392"/>
            <a:ext cx="229148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교과(군)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57246" y="1993392"/>
            <a:ext cx="229148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과목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48733" y="1993392"/>
            <a:ext cx="229148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일반고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240219" y="1993392"/>
            <a:ext cx="229148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531706" y="1993392"/>
            <a:ext cx="229148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특수목적고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276856"/>
            <a:ext cx="286435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276856"/>
            <a:ext cx="280949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국어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30118" y="2276856"/>
            <a:ext cx="366637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7550" y="2276856"/>
            <a:ext cx="361151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공통국어1, 공통국어2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96496" y="2276856"/>
            <a:ext cx="163841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3928" y="2276856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534909" y="2276856"/>
            <a:ext cx="163841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62341" y="2276856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173322" y="2276856"/>
            <a:ext cx="164987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00754" y="2276856"/>
            <a:ext cx="159500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2560320"/>
            <a:ext cx="2864358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2560320"/>
            <a:ext cx="280949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수학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30118" y="2560320"/>
            <a:ext cx="3666378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57550" y="2560320"/>
            <a:ext cx="361151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공통수학1, 공통수학2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96496" y="2560320"/>
            <a:ext cx="1638413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23928" y="2560320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534909" y="2560320"/>
            <a:ext cx="1638413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62341" y="2560320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173322" y="2560320"/>
            <a:ext cx="1649870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00754" y="2560320"/>
            <a:ext cx="159500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2843784"/>
            <a:ext cx="286435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2843784"/>
            <a:ext cx="280949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30118" y="2843784"/>
            <a:ext cx="366637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7550" y="2843784"/>
            <a:ext cx="361151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공통영어1, 공통영어2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96496" y="2843784"/>
            <a:ext cx="163841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23928" y="2843784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534909" y="2843784"/>
            <a:ext cx="163841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62341" y="2843784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0173322" y="2843784"/>
            <a:ext cx="164987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00754" y="2843784"/>
            <a:ext cx="159500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3127248"/>
            <a:ext cx="2864358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192" y="3127248"/>
            <a:ext cx="280949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 (역사/도덕 포함)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30118" y="3127248"/>
            <a:ext cx="3666378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57550" y="3127248"/>
            <a:ext cx="361151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한국사1,2 / 통합사회1,2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96496" y="3127248"/>
            <a:ext cx="1638413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23928" y="3127248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534909" y="3127248"/>
            <a:ext cx="1638413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62341" y="3127248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173322" y="3127248"/>
            <a:ext cx="1649870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200754" y="3127248"/>
            <a:ext cx="159500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5760" y="3410712"/>
            <a:ext cx="286435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3192" y="3410712"/>
            <a:ext cx="280949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과학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230118" y="3410712"/>
            <a:ext cx="366637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57550" y="3410712"/>
            <a:ext cx="361151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통합과학1,2 / 과학탐구실험1,2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896496" y="3410712"/>
            <a:ext cx="163841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23928" y="3410712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534909" y="3410712"/>
            <a:ext cx="163841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562341" y="3410712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173322" y="3410712"/>
            <a:ext cx="164987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200754" y="3410712"/>
            <a:ext cx="159500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65760" y="3694176"/>
            <a:ext cx="2864358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93192" y="3694176"/>
            <a:ext cx="280949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체육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230118" y="3694176"/>
            <a:ext cx="3666378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57550" y="3694176"/>
            <a:ext cx="361151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896496" y="3694176"/>
            <a:ext cx="1638413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923928" y="3694176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8534909" y="3694176"/>
            <a:ext cx="1638413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562341" y="3694176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10173322" y="3694176"/>
            <a:ext cx="1649870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200754" y="3694176"/>
            <a:ext cx="159500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65760" y="3977640"/>
            <a:ext cx="286435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93192" y="3977640"/>
            <a:ext cx="280949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예술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230118" y="3977640"/>
            <a:ext cx="366637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57550" y="3977640"/>
            <a:ext cx="361151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896496" y="3977640"/>
            <a:ext cx="163841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23928" y="3977640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8534909" y="3977640"/>
            <a:ext cx="163841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562341" y="3977640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0173322" y="3977640"/>
            <a:ext cx="164987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200754" y="3977640"/>
            <a:ext cx="159500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365760" y="4261104"/>
            <a:ext cx="2864358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93192" y="4261104"/>
            <a:ext cx="280949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기술·가정/정보/제2외국어/한문/교양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230118" y="4261104"/>
            <a:ext cx="3666378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57550" y="4261104"/>
            <a:ext cx="361151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896496" y="4261104"/>
            <a:ext cx="1638413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23928" y="4261104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8534909" y="4261104"/>
            <a:ext cx="1638413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562341" y="4261104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0173322" y="4261104"/>
            <a:ext cx="1649870" cy="283464"/>
          </a:xfrm>
          <a:prstGeom prst="rect">
            <a:avLst/>
          </a:prstGeom>
          <a:solidFill>
            <a:srgbClr val="EDF2FB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200754" y="4261104"/>
            <a:ext cx="159500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65760" y="4544568"/>
            <a:ext cx="2864358" cy="283464"/>
          </a:xfrm>
          <a:prstGeom prst="rect">
            <a:avLst/>
          </a:prstGeom>
          <a:solidFill>
            <a:srgbClr val="D4E4F4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93192" y="4544568"/>
            <a:ext cx="280949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소계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3230118" y="4544568"/>
            <a:ext cx="3666378" cy="283464"/>
          </a:xfrm>
          <a:prstGeom prst="rect">
            <a:avLst/>
          </a:prstGeom>
          <a:solidFill>
            <a:srgbClr val="D4E4F4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257550" y="4544568"/>
            <a:ext cx="361151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6896496" y="4544568"/>
            <a:ext cx="1638413" cy="283464"/>
          </a:xfrm>
          <a:prstGeom prst="rect">
            <a:avLst/>
          </a:prstGeom>
          <a:solidFill>
            <a:srgbClr val="D4E4F4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923928" y="4544568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84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8534909" y="4544568"/>
            <a:ext cx="1638413" cy="283464"/>
          </a:xfrm>
          <a:prstGeom prst="rect">
            <a:avLst/>
          </a:prstGeom>
          <a:solidFill>
            <a:srgbClr val="D4E4F4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562341" y="4544568"/>
            <a:ext cx="15835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0173322" y="4544568"/>
            <a:ext cx="1649870" cy="283464"/>
          </a:xfrm>
          <a:prstGeom prst="rect">
            <a:avLst/>
          </a:prstGeom>
          <a:solidFill>
            <a:srgbClr val="D4E4F4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200754" y="4544568"/>
            <a:ext cx="159500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0"/>
            <a:ext cx="10360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과목과 선택 과목 이수 순서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3112" y="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02920"/>
            <a:ext cx="11640312" cy="617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21792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21792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과목 이수 후 선택 과목 편성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932688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과목은 각 교과의 기초 소양 함양과 기본 학력 보장을 위한 과목이므로 선택 과목 이수 이전에 편성합니다.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5029200" cy="370332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435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과목 (먼저 이수)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5029200" cy="18288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62763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국어:  공통국어1, 공통국어2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12264"/>
            <a:ext cx="5029200" cy="9144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3055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수학:  공통수학1, 공통수학2 (기본수학1,2)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15184"/>
            <a:ext cx="5029200" cy="9144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3347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영어:  공통영어1, 공통영어2 (기본영어1,2)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18104"/>
            <a:ext cx="5029200" cy="9144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13639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사회:  한국사1, 한국사2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5029200" cy="9144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63931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사회:  통합사회1, 통합사회2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123944"/>
            <a:ext cx="5029200" cy="9144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14223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과학:  통합과학1,2 / 과학탐구실험1,2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40680" y="283921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8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675120" y="1188720"/>
            <a:ext cx="5029200" cy="370332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2435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과목 (이후 이수)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1554480"/>
            <a:ext cx="5029200" cy="18288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162763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화법과 언어, 독서와 작문, 문학, 주제 탐구 독서 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75120" y="2112264"/>
            <a:ext cx="5029200" cy="9144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213055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대수, 미적분Ⅰ, 확률과 통계, 기하, 경제수학 등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75120" y="2615184"/>
            <a:ext cx="5029200" cy="9144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263347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영어Ⅱ, 영어 독해와 작문, 영미 문학 읽기 등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75120" y="3118104"/>
            <a:ext cx="5029200" cy="9144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313639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동아시아 역사 기행, 세계사 등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75120" y="3621024"/>
            <a:ext cx="5029200" cy="9144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363931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세계시민과 지리, 사회와 문화, 현대사회와 윤리 등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75120" y="4123944"/>
            <a:ext cx="5029200" cy="9144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4142232"/>
            <a:ext cx="4828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물리학, 화학, 생명과학, 지구과학, 역학과 에너지 등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5001768"/>
            <a:ext cx="11457432" cy="402336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5001768"/>
            <a:ext cx="45720" cy="402336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5001768"/>
            <a:ext cx="11311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원칙:  공통 과목 학습 내용을 이해하고 탐구한 후 학생의 적성과 진로에 맞는 선택 과목을 편성합니다. 공통 과목 이전에 선택 과목을 편성하지 않도록 확인하세요.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0"/>
            <a:ext cx="10360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담임 선생님 상담 유의점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3112" y="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02920"/>
            <a:ext cx="11640312" cy="617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21792"/>
            <a:ext cx="54864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21792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 선택 상담 시 반드시 확인하세요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115568"/>
            <a:ext cx="45720" cy="1417320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115568"/>
            <a:ext cx="11411712" cy="141732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225296"/>
            <a:ext cx="237744" cy="23774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2252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" y="1207008"/>
            <a:ext cx="10954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 선택 집중 방지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499616"/>
            <a:ext cx="1125626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국어·수학·영어 교과의 이수 학점 총합이 81학점을 초과하지 않도록 안내합니다.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교과 이수 학점이 174학점을 초과하는 경우, 초과 이수 학점의 50%를 넘지 않도록 조정합니다.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276856"/>
            <a:ext cx="11256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국·영·수 과목에만 집중되지 않도록 진로 연계 다양한 과목 선택을 독려하세요.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45720" cy="1417320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70048"/>
            <a:ext cx="11411712" cy="141732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779776"/>
            <a:ext cx="237744" cy="237744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797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" y="2761488"/>
            <a:ext cx="10954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과목 중복 이수 금지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054096"/>
            <a:ext cx="1125626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과목을 1학기와 2학기에 중복하여 이수하는 것은 금지됩니다.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학생의 시간표를 확인하여 같은 과목명이 두 학기에 모두 편성되지 않도록 반드시 점검하세요.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831336"/>
            <a:ext cx="11256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금지 예시 — 1학기: 생명과학  /  2학기: 생명과학  (동일 과목 반복 편성 불가)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4206240"/>
            <a:ext cx="11457432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206240"/>
            <a:ext cx="45720" cy="402336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206240"/>
            <a:ext cx="11311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핵심 요약:  국·영·수 합계 81학점 이하 유지  +  같은 과목 중복 이수 금지 (동일 과목 두 학기 편성 불가)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0"/>
            <a:ext cx="10360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과목 선택 일정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3112" y="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02920"/>
            <a:ext cx="11640312" cy="617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21792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21792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2026학년도 과목 선택 전체 일정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932688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수강 신청 기간 전까지 충분한 고민과 상담을 통해 선택과목의 폭을 좁혀갈 수 있도록 안내해 주세요.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11457432" cy="18288"/>
          </a:xfrm>
          <a:prstGeom prst="rect">
            <a:avLst/>
          </a:prstGeom>
          <a:solidFill>
            <a:srgbClr val="C5D5F0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0818" y="1179576"/>
            <a:ext cx="219456" cy="219456"/>
          </a:xfrm>
          <a:prstGeom prst="ellipse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1909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8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5.18~22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719072"/>
            <a:ext cx="19095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 상담 주간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993392"/>
            <a:ext cx="19095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 선택 집중 상담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47822" y="12070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75332" y="1463040"/>
            <a:ext cx="1909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75332" y="1719072"/>
            <a:ext cx="19095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선호 조사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75332" y="1993392"/>
            <a:ext cx="19095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선택과목 선호 조사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57394" y="12070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4904" y="1463040"/>
            <a:ext cx="1909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84904" y="1719072"/>
            <a:ext cx="19095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 설명회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84904" y="1993392"/>
            <a:ext cx="19095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선택과목 설명회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66966" y="12070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4476" y="1463040"/>
            <a:ext cx="1909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7.13~15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94476" y="1719072"/>
            <a:ext cx="19095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수요조사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94476" y="1993392"/>
            <a:ext cx="19095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선택과목 1차 수요조사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876538" y="12070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4048" y="1463040"/>
            <a:ext cx="1909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7.18~20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04048" y="1719072"/>
            <a:ext cx="19095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수요조사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04048" y="1993392"/>
            <a:ext cx="19095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선택과목 2차 수요조사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758678" y="1179576"/>
            <a:ext cx="219456" cy="219456"/>
          </a:xfrm>
          <a:prstGeom prst="ellipse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13620" y="1463040"/>
            <a:ext cx="1909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8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7.21~22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913620" y="1719072"/>
            <a:ext cx="19095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수강 신청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913620" y="1993392"/>
            <a:ext cx="19095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선택과목 최종 확정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2286000"/>
            <a:ext cx="11457432" cy="420624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2286000"/>
            <a:ext cx="45720" cy="420624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2286000"/>
            <a:ext cx="11311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담임 선생님께:  5월 집중 상담 주간부터 학생별 진로·계열과 연계한 상담을 시작하여, 7월 최종 수강 신청 전까지 선택과목이 확정될 수 있도록 도와주세요.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0"/>
            <a:ext cx="10360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시 참고 자료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3112" y="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02920"/>
            <a:ext cx="11640312" cy="617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21792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21792"/>
            <a:ext cx="11548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 핵심 권장 과목 자료 활용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932688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학생의 희망 진로 및 대학 전공 계열에 맞는 과목 선택 상담 시 아래 자료를 참고하세요.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5637276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61872"/>
            <a:ext cx="54543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서울대학교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627632"/>
            <a:ext cx="54543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계열별 핵심 권장 과목 목록을 참고하여 학생의 전공 적합성을 고려한 선택과목을 안내합니다.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DDE8F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핵심권장 과목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85916" y="1188720"/>
            <a:ext cx="5637276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7356" y="1261872"/>
            <a:ext cx="54543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경희대학교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77356" y="1627632"/>
            <a:ext cx="54543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전공 계열별 핵심 권장 과목을 확인하여 학생의 진로 방향에 맞는 선택 상담에 활용합니다.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77356" y="250545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D6F0EC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7356" y="25054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핵심권장 과목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11457432" cy="402336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27248"/>
            <a:ext cx="45720" cy="402336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27248"/>
            <a:ext cx="11311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방법:  ① 학생의 희망 전공 계열 확인  →  ② 해당 대학 핵심 권장 과목과 학생 선택 계획 비교  →  ③ 누락된 권장 과목이 있다면 추가 선택 안내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639312"/>
            <a:ext cx="11457432" cy="402336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639312"/>
            <a:ext cx="45720" cy="402336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639312"/>
            <a:ext cx="11311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참고:  각 대학 입학처 "고교 교육 기여 대학 지원 사업" 자료 및 대입정보포털(어디가)의 전공 계열별 선택과목 안내도 적극 활용하세요.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0"/>
            <a:ext cx="10360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마무리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502920"/>
            <a:ext cx="10725912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777240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A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궁금하신 사항은 교육과정 담당 선생님께 문의해 주세요.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45836" y="1993392"/>
            <a:ext cx="1097280" cy="36576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176272"/>
            <a:ext cx="9445752" cy="320040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176272"/>
            <a:ext cx="54864" cy="3200400"/>
          </a:xfrm>
          <a:prstGeom prst="rect">
            <a:avLst/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17904" y="2240280"/>
            <a:ext cx="9171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8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핵심 정리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17904" y="2578608"/>
            <a:ext cx="9171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2022 개정:  보통교과에 융합 선택과목 신설, 전문교과 구조 세분화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17904" y="3090672"/>
            <a:ext cx="9171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성적 산출:  과목 유형별 차이 — 융합 선택은 석차등급 없음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17904" y="3602736"/>
            <a:ext cx="9171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고교학점제:  졸업 192학점 이수, 일반고 필수 이수 84학점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17904" y="4114800"/>
            <a:ext cx="9171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상담 유의:  국·영·수 합계 81학점 이하  +  같은 과목 중복 이수 금지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17904" y="4626864"/>
            <a:ext cx="9171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  일정:  5.18~22 집중 상담 주간  →  7.21~22 최종 수강 신청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2026-04-17T01:05:56Z</dcterms:created>
  <dcterms:modified xsi:type="dcterms:W3CDTF">2026-04-17T01:05:56Z</dcterms:modified>
</cp:coreProperties>
</file>